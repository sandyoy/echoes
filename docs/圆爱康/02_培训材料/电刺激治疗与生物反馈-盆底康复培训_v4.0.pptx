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04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微软雅黑"/>
              </a:defRPr>
            </a:pPr>
            <a:r>
              <a:t>电刺激治疗与生物反馈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C8DCF0"/>
                </a:solidFill>
                <a:latin typeface="微软雅黑"/>
              </a:defRPr>
            </a:pPr>
            <a:r>
              <a:t>盆底康复专业知识培训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3657600" cy="36576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4C8DC"/>
                </a:solidFill>
                <a:latin typeface="微软雅黑"/>
              </a:defRPr>
            </a:pPr>
            <a:r>
              <a:t>低频电刺激 · 中频电刺激 · NMES · TENS · 生物反馈 · 全病种覆盖 · 产品对比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B4"/>
                </a:solidFill>
                <a:latin typeface="微软雅黑"/>
              </a:defRPr>
            </a:pPr>
            <a:r>
              <a:t>版本：v4.0 专业升级版    出品：广州圆爱康生物科技有限公司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97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B4"/>
                </a:solidFill>
                <a:latin typeface="微软雅黑"/>
              </a:defRPr>
            </a:pPr>
            <a:r>
              <a:t>适用对象：康复科医师、妇产科医生、物理治疗师、医疗产品经理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B4"/>
                </a:solidFill>
                <a:latin typeface="微软雅黑"/>
              </a:defRPr>
            </a:pPr>
            <a:r>
              <a:t>课程时长：2小时精讲 + 30分钟Q&amp;A    配套资源：参数速查卡 · Glazer评估模板 · 案例库 · 产品选型指南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课程大纲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32004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专业升级版（V4.0）  |  融合临床专家深度建议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第一章  盆底功能障碍性疾病总览——不只是女性问题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第二章  电刺激治疗的完整分类体系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第三章  电刺激波形深度分类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第四章  生物反馈与Glazer评估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432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第五章  综合治疗路径：从评估到长期管理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632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第六章  常见误区澄清与患者教育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832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第七章  关键参数速查表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03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第八章  产品对比分析——伟思 · 杉山 · 圆爱康·圆小汫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233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第九章  扩展适应症：外阴白斑 / 阴道萎缩 / 慢性盆腔炎 / 术后康复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融合国际尿控协会(ICS)定义、POP-Q分度、神经可塑性、AI辅助评估趋势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663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每章附学术引用，打造行业标杆级培训体系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第一章  盆底功能障碍性疾病总览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PFD定义（国际尿控协会ICS）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盆底功能障碍是盆底支持结构损伤或功能失调导致的临床综合征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涉及前区（膀胱尿道）、中区（阴道/前列腺）、后区（肛门直肠）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流行病学关键数据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346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女性PFD患病率：25%-50%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546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80%产后女性存在盆底损伤（不论顺产/剖宫产）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747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慢性便秘患者约50%存在PFD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50%初学Kegel发力错误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临床表现分类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805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排尿障碍：压力性尿失禁、急迫性尿失禁、OAB、尿潴留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006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排便障碍：出口梗阻型便秘、大便失禁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1206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盆腔器官脱垂（POP）：子宫脱垂/膀胱膨出/直肠膨出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4406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慢性盆腔疼痛：盆底肌紧张/痉挛、间质性膀胱炎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7607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性功能障碍：性交痛、ED、前列腺术后尿失禁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80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扩展：可融入POP-Q分度标准图示——I-IV度分级评估脱垂严重程度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008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学术引用：ACOG Committee Opinion No. 687, 2017; 中华医学会《PFD诊治指南》2022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POP-Q分度标准（盆腔器官脱垂定量分期）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国际尿控协会(ICS)推荐的分度系统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0度：无脱垂，所有点在处女膜以上3cm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I度：脱垂最远点在处女膜以上1cm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II度：脱垂最远点在处女膜平面±1cm以内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88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III度：脱垂最远点在处女膜平面以下1cm以上但未完全脱出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IV度：完全脱出，阴道全部外翻（子宫全脱）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临床意义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I-II度 → 保守治疗（电刺激+生物反馈+盆底肌训练）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14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III-IV度 → 手术联合（术前电刺激可改善手术效果）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POP-Q vs 传统分度：更精确、可重复性更高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548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课堂建议：辅以POP-Q示意图（A点、Ba点、C点、D点标注图）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第二章  电刺激治疗的完整分类体系（上）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32004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四种低频电刺激的英文全称、中文名称、机制与应用场景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低频电刺激（Low Frequency Electrical Stimulation, 0.5-1000Hz）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① TENS——经皮神经电刺激（Transcutaneous Electrical Nerve Stimulation）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频率50-150Hz | 机制：闸门控制理论+内源性阿片肽释放 → 镇痛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典型应用：慢性盆腔疼痛、产后伤口痛、性交痛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290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② NMES——神经肌肉电刺激（Neuromuscular Electrical Stimulation）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490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频率20-50Hz | 机制：直接激活运动神经，引起肌肉收缩 → 肌肉功能重建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典型应用：盆底肌无力、尿失禁、器官脱垂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891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091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③ MENS——微电流神经电刺激（Microcurrent Electrical Nerve Stimulation）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0292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频率&lt;1Hz | 机制：促进ATP合成、细胞修复、减轻炎症 → 组织修复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3492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典型应用：外阴白斑、伤口愈合、组织损伤修复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989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④ FES——功能性电刺激（Functional Electrical Stimulation）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3093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频率20-50Hz | 机制：替代神经信号，完成特定功能动作 → 功能替代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6294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典型应用：神经损伤后膀胱排空辅助、术后尿潴留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9494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7269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注：缩写首次出现时标注全称（英文+中文），便于学习者建立完整概念体系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第二章  电刺激治疗的完整分类体系（中）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32004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中频电刺激（IFC干扰电、调制中频）的机制、特点与临床应用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中频电刺激（Medium Frequency Electrical Stimulation, 1000-100000Hz）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① IFC——干扰电疗法（Interferential Current Therapy）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载波频率：4000Hz × (4000±100)Hz 两路中频交叉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机制：两路中频电流在组织深部交叉，形成低频干扰场（100Hz左右差频）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特点：穿透深度大，可作用到深层肌肉和盆腔组织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290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患者感受：深部温热感+肌肉收缩感，舒适度高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490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典型应用：深层盆腔疼痛、慢性盆腔炎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891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② 调制中频电疗法（Modulated Medium Frequency Therapy）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091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机制：在中频载波上叠加低频调制波，兼具中频穿透力和低频刺激效果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0292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特点：频谱丰富，可同时激活不同类型的感觉和运动神经纤维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3492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应用场景：综合性康复治疗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低频 vs 中频的核心区别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低频：穿透浅但直接作用于浅层神经肌肉，精准度高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6751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中频：穿透深但需要交叉形成干扰场，适合深层组织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9951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73152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中频电刺激的核心优势：穿透深、作用范围大、患者舒适度高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第二章  电刺激治疗的完整分类体系（下）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32004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Ⅰ类肌（慢肌）vs Ⅱ类肌（快肌）的差异化参数与治疗目标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盆底康复专用电刺激参数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Ⅰ类肌（慢肌纤维/Slow-Twitch Fiber）训练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频率：20-30Hz | 脉宽：300-500μs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功能：维持静息张力，提供器官支撑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应用：器官脱垂、慢性盆底疼痛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290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490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Ⅱ类肌（快肌纤维/Fast-Twitch Fiber）训练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频率：35-50Hz | 脉宽：100-200μs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891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功能：快速闭合尿道和肛门括约肌，应对腹压骤增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091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应用：压力性尿失禁、急迫性尿失禁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0292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3492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混合训练方案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频率：20-50Hz交替 | 脉宽：100-500μs交替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989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目的：同时激活I类和II类肌纤维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3093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应用：混合型盆底功能障碍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6294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949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关键原则：频率决定激活的肌纤维类型，脉宽决定穿透深度和舒适度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电刺激与神经可塑性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为什么NMES能促进神经再支配？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NMES通过重复性电刺激激活运动神经末梢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→ 促进突触可塑性 </a:t>
            </a:r>
            <a:br/>
            <a:r>
              <a:t>→ 增强神经递质释放效率 </a:t>
            </a:r>
            <a:br/>
            <a:r>
              <a:t>→ 重建神经-肌肉连接通路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关键机制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346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长时程增强（LTP）效应：高频重复刺激 → 突触传递效率持久增强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546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运动皮质重塑：电刺激激活本体感觉传入 → 改变运动皮质映射区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747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神经再支配：去神经肌肉通过电刺激 → 轴突芽生和运动单位重组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94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临床证据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605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持续4周以上NMES → 运动诱发电位(MEP)振幅显著增加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805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联合生物反馈 → 效果优于单纯电刺激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00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学术引用：Sheffler LR, Chae J. Neuromuscular electrical stimulation in neurorehabilitation. Muscle Nerve. 2007; Glazer HI, et al. J Urol. 1995.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各类电刺激详解与患者感受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TENS（经皮神经电刺激）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频率50-150Hz | 机制：闸门控制理论+内源性阿片肽释放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应用：慢性盆腔疼痛、产后伤口痛、性交痛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患者感受：酥麻感，舒适 → 临床中常被忽略但极关键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NMES（神经肌肉电刺激）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546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频率20-50Hz | 机制：直接激活运动神经引起肌肉收缩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747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应用：盆底肌无力、尿失禁、器官脱垂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患者感受：肌肉被'拉紧'或'提起' → 需调整强度防止不适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MENS（微电流刺激）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805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频率&lt;1Hz | 机制：促进ATP合成、细胞修复、减轻炎症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006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应用：外阴白斑、伤口愈合、组织修复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1206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患者感受：通常无感觉或极轻微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IFC（干扰电疗法）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064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频率4000Hz±100Hz交叉 | 机制：两路中频交叉形成低频干扰场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1264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应用：深层盆腔疼痛、慢性盆腔炎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465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患者感受：深部温热感+收缩感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第三章  电刺激波形深度分类（上）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32004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六种波形各具特点，根据治疗目标和患者耐受度选择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六种基本波形速览（示意图见下页）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① 方波（Square Wave）—— 陡峭上升/下降沿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特点：能量传递高效，激活阈值低 → 肌肉收缩充分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劣势：舒适度较差，易产生刺痛感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适用：NMES、肌肉力量训练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290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490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② 三角波（Triangular Wave）—— 缓慢上升和下降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特点：最舒适的波形，接近生理动作电位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891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劣势：效率最低，需更高强度才能达到同等收缩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091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适用：敏感患者、初期治疗、疼痛管理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0292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3492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③ 正弦波（Sine Wave）—— 平滑连续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特点：舒适度高，适合长时间治疗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989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劣势：激活效率中等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3093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适用：TENS镇痛、慢性疼痛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6294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9494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④ 指数波（Exponential Wave）—— 快速上升后缓慢下降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72694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特点：高效激活去神经肌肉，模拟神经动作电位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75895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劣势：参数设置要求高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79095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适用：神经损伤后肌肉激活（如脊髓损伤）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82296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85496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⑤ 双向平衡波（Biphasic Balanced Wave）—— 正负半周对称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88696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特点：净电荷为零，无电解风险，可长时间使用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91897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适用：盆底康复首选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95097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9829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⑥ 双向不平衡波（Biphasic Unbalanced Wave）—— 正负半周不对称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10149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特点：可产生微弱直流效应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10469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适用：特定组织修复场景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六种基本波形示意图（可替换为真实波形截图）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32004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助理可参照此示意图，从设备说明书或示波器截图中替换为真实波形图</a:t>
            </a:r>
          </a:p>
        </p:txBody>
      </p:sp>
      <p:pic>
        <p:nvPicPr>
          <p:cNvPr id="6" name="Picture 5" descr="01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5669280" cy="1280160"/>
          </a:xfrm>
          <a:prstGeom prst="rect">
            <a:avLst/>
          </a:prstGeom>
        </p:spPr>
      </p:pic>
      <p:pic>
        <p:nvPicPr>
          <p:cNvPr id="7" name="Picture 6" descr="03_s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834640"/>
            <a:ext cx="5669280" cy="1280160"/>
          </a:xfrm>
          <a:prstGeom prst="rect">
            <a:avLst/>
          </a:prstGeom>
        </p:spPr>
      </p:pic>
      <p:pic>
        <p:nvPicPr>
          <p:cNvPr id="8" name="Picture 7" descr="05_balanc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206240"/>
            <a:ext cx="5669280" cy="1280160"/>
          </a:xfrm>
          <a:prstGeom prst="rect">
            <a:avLst/>
          </a:prstGeom>
        </p:spPr>
      </p:pic>
      <p:pic>
        <p:nvPicPr>
          <p:cNvPr id="9" name="Picture 8" descr="02_triang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1463040"/>
            <a:ext cx="5669280" cy="1280160"/>
          </a:xfrm>
          <a:prstGeom prst="rect">
            <a:avLst/>
          </a:prstGeom>
        </p:spPr>
      </p:pic>
      <p:pic>
        <p:nvPicPr>
          <p:cNvPr id="10" name="Picture 9" descr="04_ex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2834640"/>
            <a:ext cx="5669280" cy="1280160"/>
          </a:xfrm>
          <a:prstGeom prst="rect">
            <a:avLst/>
          </a:prstGeom>
        </p:spPr>
      </p:pic>
      <p:pic>
        <p:nvPicPr>
          <p:cNvPr id="11" name="Picture 10" descr="06_unbalanc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0" y="4206240"/>
            <a:ext cx="5669280" cy="12801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67E22"/>
                </a:solidFill>
                <a:latin typeface="微软雅黑"/>
              </a:defRPr>
            </a:pPr>
            <a:r>
              <a:t>📌 提示：可根据实际设备波形截图替换以上示意图，确保波形形状准确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波形调制方式与关键参数关系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32004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调制方式决定刺激模式，脉宽与阈值电流呈反比关系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四种波形调制方式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连续波（Continuous Wave, CW）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特点：恒定输出，无间隔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适用：持续肌肉收缩训练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290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间歇波（Burst Mode）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490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特点：脉冲群 + 休止期交替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适用：避免肌肉疲劳，延长治疗时间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891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091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调幅波（Amplitude Modulated, AM）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0292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特点：幅度周期性变化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3492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适用：防止适应性，增强刺激效果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989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调频波（Frequency Modulated, FM）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3093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特点：频率周期性变化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6294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适用：覆盖不同肌纤维类型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9494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7269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脉宽与阈值电流的关键关系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76352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窄脉宽（&lt;200μs）→ 需更高电流强度才能激活运动单位（阈值升高）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79552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宽脉宽（&gt;300μs）→ 激活阈值低，但舒适度下降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8275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*临床原则：在保证效果的前提下，尽量选择舒适的脉宽参数*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波形选择决策树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是否需要深层作用？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├─ 是 → 中频干扰电（IFC）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└─ 否 → 继续判断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是否需要组织修复（外阴白斑、伤口愈合）？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├─ 是 → MENS微电流 + 双向平衡波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632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└─ 否 → 继续判断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是否需要肌肉力量重建？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├─ 是 → NMES + 方波/双向平衡波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233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└─ 否 → 继续判断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3434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是否以镇痛为主？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6634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├─ 是 → TENS + 正弦波/三角波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834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└─ 否 → 综合评估后定制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03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补充：指数波适用于去神经肌肉（如脊髓损伤后），因模拟动作电位上升支更接近生理状态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6235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补充：窄脉宽需更高电流强度才能激活运动单位——脉宽与阈值电流呈反比关系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第四章（上） 生物反馈——原理与应用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32004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将生理信号可视化，让患者'看见'自己的肌肉活动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什么是生物反馈（Biofeedback）？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定义：将人体生理活动信息（如肌电信号）转化为可视/可听信号，帮助患者学会自主控制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核心价值：50%初学者Kegel发力错误 → 生物反馈可将准确率提升至90%以上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本质：建立'正确收缩'的本体感觉，让患者'看见'自己的肌肉活动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生物反馈的三种主要类型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747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947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① sEMG生物反馈（表面肌电生物反馈）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14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原理：通过阴道/直肠电极采集盆底肌电信号，转化为屏幕上的波形或数值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434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特点：最常用，灵敏度高，可量化评估肌力和耐力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54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适用：绝大多数盆底康复患者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074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3949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② 压力生物反馈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7150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原理：通过气囊式探头检测阴道/肛门压力变化，反映肌肉收缩力度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0350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特点：更接近生理感受，操作简单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适用：配合sEMG使用，互为补充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6751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9951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③ 视觉生物反馈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73152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原理：在屏幕上显示动画（如气球充气、花朵绽放），随收缩幅度变化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76352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特点：直观有趣，患者依从性高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79552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适用：初学训练、儿童、认知障碍患者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8275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8595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生物反馈的临床价值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89611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纠正错误发力模式（腹肌代偿、臀肌代偿等常见错误）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92811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量化训练效果（从'感觉'到'数据'的转变）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96012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提高患者参与度和依从性（可视化反馈带来的成就感）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99212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02412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AI辅助分析趋势：部分高端设备已支持自动识别收缩模式异常（如代偿收缩、不完全放松）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10561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临床中建议sEMG+压力生物反馈联合使用，互为验证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第四章（下） Glazer评估——精准诊断五步法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32004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从静息张力到耐力测试，系统评估盆底肌五大功能维度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Glazer评估概述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全称：Glazer盆底肌表面肌电评估方案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目的：系统评估盆底肌的功能状态——静息张力、快肌功能、慢肌功能、耐力、恢复能力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报告解读：根据评估结果将患者分为高张力型/低张力型/混合型，指导治疗方案选择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第一步：前静息期（Pre-baseline）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747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时长：60秒 | 评估内容：盆底肌静息张力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947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正常值：&lt;4μV（sEMG）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14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异常提示：&gt;4μV提示肌张力过高（高张力型），可能存在盆底肌紧张/痉挛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434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第二步：快速收缩期（Phasic Contractions）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1206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时长：10次快速收缩，每次收缩+放松各5秒 | 评估内容：Ⅱ类肌（快肌）功能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4406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正常值：收缩幅度&gt;35μV，上升时间&lt;1秒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7607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异常提示：上升时间延长、幅度不足 → 快肌无力 → 压力性尿失禁风险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0807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第三步：持续收缩期（Tonic Contractions）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7665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时长：5次持续收缩，每次10秒 | 评估内容：Ⅰ类肌（慢肌）功能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70866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正常值：收缩幅度&gt;25μV，维持稳定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74066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异常提示：幅度下降、波动大 → 慢肌耐力不足 → 器官脱垂风险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77266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8046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第四步：耐力收缩期（Endurance Test）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84124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时长：60秒持续收缩 | 评估内容：肌肉耐力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87325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正常值：维持&gt;20μV，衰减&lt;50%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90525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异常提示：快速衰减 → 耐力严重不足 → 长期支撑能力差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93726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9692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第五步：后静息期（Post-baseline）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100584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时长：60秒 | 评估内容：收缩后放松能力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103784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正常值：恢复至前静息水平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106984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异常提示：无法放松 → 肌张力异常增高 → 可能合并慢性盆腔疼痛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Glazer评估报告解读——三种分型与治疗方向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32004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根据评估结果精准分型，制定个体化治疗方案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高张力型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特征：前后静息基线均高（&gt;4μV），收缩幅度受限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临床常见人群：慢性盆腔疼痛患者、长期久坐人群、产后未及时放松训练者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治疗重点：放松训练为主 → 低频电刺激（2-10Hz）→ 生物反馈辅助放松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注意：此类患者应先放松再强化，否则可能加重疼痛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低张力型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947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特征：静息基线正常，收缩幅度低（&lt;25μV）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14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临床常见人群：产后女性、老年女性、多产史患者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434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治疗重点：NMES强化训练（20-50Hz）→ 渐进抗阻训练 → 被动+主动结合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54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注意：需排除高张力型误判（部分高张力型患者因疼痛也表现为收缩无力）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074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394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混合型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7607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特征：静息高 + 收缩无力，或部分指标异常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0807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临床常见人群：病程较长、合并多种症状的患者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00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治疗重点：分阶段治疗 → 先放松训练（第1-4次）→ 再强化训练（第5-10次）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720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注意：混合型最考验临床经验，需根据每次治疗后评估动态调整方案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7040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7360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Glazer评估的正常值范围对照表（快速参考）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76809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前静息&lt;4μV | 快速收缩&gt;35μV | 持续收缩&gt;25μV | 耐力维持&gt;20μV | 后静息恢复至基线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8001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建议：每次疗程评估一次Glazer，对比数值变化评估治疗效果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第五章  综合治疗路径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标准接诊流程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第一步：问诊（主诉、分娩史、手术史、生活方式）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第二步：体格检查（盆腔/POP-Q/触诊）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第三步：辅助评估（Glazer/尿流率/超声）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88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第四步：制定方案（分型→目标→参数选择）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第五步：执行与随访（每周2-3次，10-15次/疗程）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三阶段治疗策略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引导期(第1-4次)：电刺激70%+生物反馈30% → 建立肌肉激活感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14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强化期(第5-10次)：电刺激40%+生物反馈60% → 提升肌力耐力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自主期(第11-15次)：电刺激10%+生物反馈90% → 完全自主控制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家庭训练依从性管理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1206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APP打卡+视频指导 → 提升居家康复完成率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4406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参考ACOG指南：产后42天开始干预（恶露干净后）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760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扩展：加入'家庭训练依从性管理'模块，呼应居家康复主题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第六章  常见误区澄清与患者教育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误区与真相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误区1：只有顺产才需盆底康复 → 80%产后女性存在损伤，剖宫产同需评估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➤ 依据：妊娠本身对盆底的压迫和激素影响（《中华妇产科杂志》2023综述）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误区2：电刺激=疼痛 → 正确参数下应仅有酥麻感或肌肉收缩感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88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➤ 话术：'如果有刺痛感，请立即告诉我，我们调整参数'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误区3：Kegel可替代电刺激 → 50%发力错误，电刺激精准激活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➤ 话术：'电刺激帮你找到正确的肌肉，Kegel是巩固训练'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490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误区4：没有症状不需治疗 → PFD进展缓慢，预防性干预效果更佳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➤ 话术：'等出现症状时，治疗难度和周期都会增加'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每个误区附证据来源+患者教育话术模板，便于一线沟通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091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心脏起搏器患者禁用TENS → 禁忌症提醒列已加入后续速查表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第七章  关键参数速查表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32004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需结合患者耐受度个体化调整   |   通用原则：强度以可见收缩但不疼痛为准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471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治疗场景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电流类型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频率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脉宽(μs)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波形推荐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禁忌症提醒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压力性尿失禁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NMES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35-50Hz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200-350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方波/双相平衡波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无/慎：起搏器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急迫性尿失禁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NMES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5-10Hz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200-500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三角波/双相平衡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无/慎：起搏器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器官脱垂(I-II)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NMES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20-30Hz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300-500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双相平衡波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III度以上慎用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慢性盆腔疼痛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TENS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80-150Hz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50-100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正弦波/三角波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起搏器禁用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便秘(出口梗阻)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NMES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20-30Hz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300-500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方波/间歇波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直肠术后慎用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大便失禁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NMES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30-50Hz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250-400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双相平衡波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无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产后康复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NMES+TENS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20-40Hz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200-400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三角波/双相波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恶露未净慎用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外阴白斑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MENS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&lt;1Hz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微电流+双相波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无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术后尿潴留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FES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20-30Hz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200-400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方波/间歇波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术后出血期禁用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盆底肌紧张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TENS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2-10Hz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200-400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三角波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无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4B4"/>
                </a:solidFill>
                <a:latin typeface="微软雅黑"/>
              </a:defRPr>
            </a:pPr>
            <a:r>
              <a:t>⚠ 起搏器/内置电子设备患者：TENS/IFC禁用，其他类型需评估后使用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第八章  产品对比分析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32004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圆小汫差异化优势：掌上便携·一次性探头·六师共管·居家延伸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471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对比维度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南京伟思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广州杉山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圆爱康·圆小汫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设备形态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台式/工作站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台式/工作站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掌上便携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通道数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4通道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2-4通道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2通道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频率范围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0.5-1000Hz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1-1000Hz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1-1000Hz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生物反馈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sEMG+压力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sEMG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sEMG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Glazer评估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完整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部分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完整（AI辅助）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远程指导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❌ 不支持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❌ 不支持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✅ 六师共管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探头类型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可重复使用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可重复使用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一次性（卫生安全）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NMPA认证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✅ II类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✅ II类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✅ II类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单次治疗成本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较高（院内）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较高（院内）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较低（居家）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目标场景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医院/康复中心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医院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社区/居家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4B4"/>
                </a:solidFill>
                <a:latin typeface="微软雅黑"/>
              </a:defRPr>
            </a:pPr>
            <a:r>
              <a:t>📌 所有设备均已通过NMPA II类医疗器械认证 | 伟思/杉山为传统院内方案，圆小汫填补居家康复空白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第九章  扩展适应症——超越盆底功能障碍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电刺激在非PFD领域的精准应用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外阴白斑：MENS微电流促进局部血供和色素代谢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阴道萎缩：低频电刺激+局部雌激素联合，促进胶原重塑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会阴撕裂愈合：MENS促进ATP合成、减轻炎症因子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88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慢性盆腔炎：IFC干扰电深层消炎镇痛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术后尿潴留：FES辅助膀胱排空，减少导尿管留置时间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肛肠术后：促进括约肌功能恢复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49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电刺激与组织修复机制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14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促进ATP合成 → 细胞能量供应增强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调节炎症因子 → 减轻局部炎性反应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754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促进胶原重塑 → 改善组织弹性和支撑力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74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学术引用：相关机制研究可参考Journal of Tissue Engineering文献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04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微软雅黑"/>
              </a:defRPr>
            </a:pPr>
            <a:r>
              <a:t>总结与核心要点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377440"/>
            <a:ext cx="3657600" cy="36576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743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微软雅黑"/>
              </a:defRPr>
            </a:pPr>
            <a:r>
              <a:t>▸ PFD不只是女性问题——打破认知误区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154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微软雅黑"/>
              </a:defRPr>
            </a:pPr>
            <a:r>
              <a:t>▸ 电刺激分类体系：TENS/NMES/MENS/FES/IFC各有所长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微软雅黑"/>
              </a:defRPr>
            </a:pPr>
            <a:r>
              <a:t>▸ 波形选择决定治疗效果与患者体验——双相平衡波为盆底首选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77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微软雅黑"/>
              </a:defRPr>
            </a:pPr>
            <a:r>
              <a:t>▸ Glazer评估五步法是精准治疗的基石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微软雅黑"/>
              </a:defRPr>
            </a:pPr>
            <a:r>
              <a:t>▸ 三阶段策略：引导期→强化期→自主期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00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微软雅黑"/>
              </a:defRPr>
            </a:pPr>
            <a:r>
              <a:t>▸ 产品选择：院内伟思/杉山 → 居家圆小汫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212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微软雅黑"/>
              </a:defRPr>
            </a:pPr>
            <a:r>
              <a:t>▸ 扩展适应症：外阴白斑、慢性盆腔炎、术后康复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B4"/>
                </a:solidFill>
                <a:latin typeface="微软雅黑"/>
              </a:defRPr>
            </a:pPr>
            <a:r>
              <a:t>广州圆爱康生物科技有限公司  |  www.yuanekang.com  |  版本V4.0 专业升级版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参考资料与学术引用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1. Glazer HI, et al. Pelvic floor muscle surface electromyography: reliability and clinical significance. J Urol. 1995.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2. ACOG Committee Opinion No. 687: Approaches to Prevention of Pelvic Floor Disorders. 2017.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3. 中华医学会妇产科学分会. 盆底功能障碍性疾病诊治指南(2022版).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4. Sheffler LR, Chae J. Neuromuscular electrical stimulation in neurorehabilitation. Muscle Nerve. 2007.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5. 国家药品监督管理局. 低频电刺激治疗设备注册技术审查指导原则.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632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6. ICS (International Continence Society). Standardization of Terminology of Pelvic Floor Muscle Function. 2021.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7. 中国医师协会. 产后盆底康复治疗专家共识(2020).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03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本培训材料仅用于专业知识教学，不构成具体临床处方建议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具体治疗参数需结合患者个体情况由执业医师制定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配套资源清单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📋 参数速查卡（单页PDF，含禁忌症提醒列）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📋 Glazer评估模板与正常值范围对照表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📋 患者教育话术模板（针对9大常见误区）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📋 案例库（含治疗前后Glazer数值对比）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📋 产品选型指南（院内/社区/居家三种场景）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632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📋 家庭训练依从性管理工具（APP打卡模板）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📋 参考文献全文索引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233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如需以上配套资源，请联系广州圆爱康生物科技有限公司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3434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www.yuanekang.com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