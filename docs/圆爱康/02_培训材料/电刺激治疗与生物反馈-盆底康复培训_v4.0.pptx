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04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电刺激治疗与生物反馈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8DCF0"/>
                </a:solidFill>
                <a:latin typeface="微软雅黑"/>
              </a:defRPr>
            </a:pPr>
            <a:r>
              <a:t>盆底康复专业知识培训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36576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8DC"/>
                </a:solidFill>
                <a:latin typeface="微软雅黑"/>
              </a:defRPr>
            </a:pPr>
            <a:r>
              <a:t>低频电刺激 · 中频电刺激 · NMES · TENS · 生物反馈 · 全病种覆盖 · 产品对比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微软雅黑"/>
              </a:defRPr>
            </a:pPr>
            <a:r>
              <a:t>版本：v4.0 专业升级版    出品：广州圆爱康生物科技有限公司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微软雅黑"/>
              </a:defRPr>
            </a:pPr>
            <a:r>
              <a:t>适用对象：康复科医师、妇产科医生、物理治疗师、医疗产品经理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微软雅黑"/>
              </a:defRPr>
            </a:pPr>
            <a:r>
              <a:t>课程时长：2小时精讲 + 30分钟Q&amp;A    配套资源：参数速查卡 · Glazer评估模板 · 案例库 · 产品选型指南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课程大纲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专业升级版（V4.0）  |  融合临床专家深度建议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第一章  盆底功能障碍性疾病总览——不只是女性问题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第二章  电刺激治疗的完整分类体系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第三章  电刺激波形深度分类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第四章  生物反馈与Glazer评估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第五章  综合治疗路径：从评估到长期管理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第六章  常见误区澄清与患者教育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第七章  关键参数速查表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第八章  产品对比分析——伟思 · 杉山 · 圆爱康·圆小汫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第九章  扩展适应症：外阴白斑 / 阴道萎缩 / 慢性盆腔炎 / 术后康复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融合国际尿控协会(ICS)定义、POP-Q分度、神经可塑性、AI辅助评估趋势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每章附学术引用，打造行业标杆级培训体系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第一章  盆底功能障碍性疾病总览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PFD定义（国际尿控协会ICS）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盆底功能障碍是盆底支持结构损伤或功能失调导致的临床综合征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涉及前区（膀胱尿道）、中区（阴道/前列腺）、后区（肛门直肠）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流行病学关键数据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女性PFD患病率：25%-50%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80%产后女性存在盆底损伤（不论顺产/剖宫产）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慢性便秘患者约50%存在PFD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50%初学Kegel发力错误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临床表现分类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排尿障碍：压力性尿失禁、急迫性尿失禁、OAB、尿潴留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排便障碍：出口梗阻型便秘、大便失禁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盆腔器官脱垂（POP）：子宫脱垂/膀胱膨出/直肠膨出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慢性盆腔疼痛：盆底肌紧张/痉挛、间质性膀胱炎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性功能障碍：性交痛、ED、前列腺术后尿失禁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扩展：可融入POP-Q分度标准图示——I-IV度分级评估脱垂严重程度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学术引用：ACOG Committee Opinion No. 687, 2017; 中华医学会《PFD诊治指南》2022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POP-Q分度标准（盆腔器官脱垂定量分期）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国际尿控协会(ICS)推荐的分度系统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0度：无脱垂，所有点在处女膜以上3cm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I度：脱垂最远点在处女膜以上1cm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II度：脱垂最远点在处女膜平面±1cm以内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III度：脱垂最远点在处女膜平面以下1cm以上但未完全脱出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IV度：完全脱出，阴道全部外翻（子宫全脱）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临床意义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I-II度 → 保守治疗（电刺激+生物反馈+盆底肌训练）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III-IV度 → 手术联合（术前电刺激可改善手术效果）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POP-Q vs 传统分度：更精确、可重复性更高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课堂建议：辅以POP-Q示意图（A点、Ba点、C点、D点标注图）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第二章  电刺激治疗的完整分类体系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TENS/NMES/MENS/FES/IFC 完整分类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低频电刺激 (0.5-1000Hz)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TENS (50-150Hz) — 镇痛，闸门控制理论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NMES (20-50Hz) — 肌肉功能重建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MENS (&lt;1Hz) — 组织修复/抗炎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FES (20-50Hz) — 替代/辅助功能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71600"/>
            <a:ext cx="18288" cy="50292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中频电刺激 (1000-100000Hz)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IFC干扰电 (4000Hz交叉) — 深层组织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调制中频 — 综合效应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盆底专用参数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Ⅰ类肌(慢肌)：20-30Hz, 300-500μs → 脱垂/疼痛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Ⅱ类肌(快肌)：35-50Hz, 100-200μs → 漏尿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电刺激与神经可塑性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为什么NMES能促进神经再支配？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NMES通过重复性电刺激激活运动神经末梢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→ 促进突触可塑性 </a:t>
            </a:r>
            <a:br/>
            <a:r>
              <a:t>→ 增强神经递质释放效率 </a:t>
            </a:r>
            <a:br/>
            <a:r>
              <a:t>→ 重建神经-肌肉连接通路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关键机制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长时程增强（LTP）效应：高频重复刺激 → 突触传递效率持久增强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运动皮质重塑：电刺激激活本体感觉传入 → 改变运动皮质映射区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神经再支配：去神经肌肉通过电刺激 → 轴突芽生和运动单位重组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临床证据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持续4周以上NMES → 运动诱发电位(MEP)振幅显著增加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联合生物反馈 → 效果优于单纯电刺激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学术引用：Sheffler LR, Chae J. Neuromuscular electrical stimulation in neurorehabilitation. Muscle Nerve. 2007; Glazer HI, et al. J Urol. 1995.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各类电刺激详解与患者感受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TENS（经皮神经电刺激）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频率50-150Hz | 机制：闸门控制理论+内源性阿片肽释放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应用：慢性盆腔疼痛、产后伤口痛、性交痛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患者感受：酥麻感，舒适 → 临床中常被忽略但极关键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NMES（神经肌肉电刺激）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频率20-50Hz | 机制：直接激活运动神经引起肌肉收缩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应用：盆底肌无力、尿失禁、器官脱垂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患者感受：肌肉被'拉紧'或'提起' → 需调整强度防止不适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MENS（微电流刺激）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频率&lt;1Hz | 机制：促进ATP合成、细胞修复、减轻炎症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应用：外阴白斑、伤口愈合、组织修复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患者感受：通常无感觉或极轻微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IFC（干扰电疗法）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频率4000Hz±100Hz交叉 | 机制：两路中频交叉形成低频干扰场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264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应用：深层盆腔疼痛、慢性盆腔炎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患者感受：深部温热感+收缩感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第三章  电刺激波形深度分类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六种基本波形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方波：陡峭沿，高效但舒适度差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三角波：缓慢上升，最舒适但效率最低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正弦波：平滑连续，适合TENS镇痛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指数波：模拟动作电位上升支，去神经肌肉首选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双向平衡波：净电荷为零，盆底首选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双向不平衡波：微弱直流效应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71600"/>
            <a:ext cx="18288" cy="50292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波形调制方式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连续波(CW)：恒定输出 → 持续收缩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间歇波(Burst)：群+休止 → 防疲劳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调幅波(AM)：幅度变化 → 防适应性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调频波(FM)：频率变化 → 覆盖多肌纤维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关键关系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窄脉宽 → 需更高强度才能激活运动单位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宽脉宽(&gt;300μs) → 激活阈值低，舒适度下降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波形选择决策树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是否需要深层作用？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├─ 是 → 中频干扰电（IFC）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└─ 否 → 继续判断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是否需要组织修复（外阴白斑、伤口愈合）？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├─ 是 → MENS微电流 + 双向平衡波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└─ 否 → 继续判断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是否需要肌肉力量重建？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├─ 是 → NMES + 方波/双向平衡波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└─ 否 → 继续判断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是否以镇痛为主？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├─ 是 → TENS + 正弦波/三角波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└─ 否 → 综合评估后定制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补充：指数波适用于去神经肌肉（如脊髓损伤后），因模拟动作电位上升支更接近生理状态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补充：窄脉宽需更高电流强度才能激活运动单位——脉宽与阈值电流呈反比关系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第四章  生物反馈与Glazer评估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生物反馈原理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将生理信号→可视/可听信号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50%初学Kegel发力错误→提升至90%+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类型：sEMG / 压力 / 视觉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Glazer五步法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1) 前静息60s — 静息张力(&lt;4μV)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2) 快速收缩10次 — Ⅱ类肌(快肌)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3) 持续收缩5次×10s — Ⅰ类肌(慢肌)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371600"/>
            <a:ext cx="18288" cy="50292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Glazer五步法（续）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4) 耐力收缩60s — 肌肉耐力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5) 后静息60s — 放松能力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14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## 报告解读三型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高张力型：基线高，收缩受限→放松训练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低张力型：基线正常，收缩低→NMES强化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混合型：先放松后强化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📌 AI辅助分析趋势：部分高端设备已支持自动识别收缩模式异常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2828"/>
                </a:solidFill>
                <a:latin typeface="微软雅黑"/>
              </a:defRPr>
            </a:pPr>
            <a:r>
              <a:t>▸ 📌 可配合评估报告样例截图，使教学更具体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第五章  综合治疗路径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标准接诊流程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第一步：问诊（主诉、分娩史、手术史、生活方式）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第二步：体格检查（盆腔/POP-Q/触诊）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第三步：辅助评估（Glazer/尿流率/超声）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第四步：制定方案（分型→目标→参数选择）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第五步：执行与随访（每周2-3次，10-15次/疗程）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三阶段治疗策略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引导期(第1-4次)：电刺激70%+生物反馈30% → 建立肌肉激活感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强化期(第5-10次)：电刺激40%+生物反馈60% → 提升肌力耐力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自主期(第11-15次)：电刺激10%+生物反馈90% → 完全自主控制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家庭训练依从性管理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APP打卡+视频指导 → 提升居家康复完成率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参考ACOG指南：产后42天开始干预（恶露干净后）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扩展：加入'家庭训练依从性管理'模块，呼应居家康复主题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第六章  常见误区澄清与患者教育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误区与真相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误区1：只有顺产才需盆底康复 → 80%产后女性存在损伤，剖宫产同需评估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 ➤ 依据：妊娠本身对盆底的压迫和激素影响（《中华妇产科杂志》2023综述）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误区2：电刺激=疼痛 → 正确参数下应仅有酥麻感或肌肉收缩感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 ➤ 话术：'如果有刺痛感，请立即告诉我，我们调整参数'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误区3：Kegel可替代电刺激 → 50%发力错误，电刺激精准激活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 ➤ 话术：'电刺激帮你找到正确的肌肉，Kegel是巩固训练'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误区4：没有症状不需治疗 → PFD进展缓慢，预防性干预效果更佳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   ➤ 话术：'等出现症状时，治疗难度和周期都会增加'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每个误区附证据来源+患者教育话术模板，便于一线沟通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心脏起搏器患者禁用TENS → 禁忌症提醒列已加入后续速查表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第七章  关键参数速查表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需结合患者耐受度个体化调整   |   通用原则：强度以可见收缩但不疼痛为准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治疗场景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电流类型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频率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脉宽(μs)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波形推荐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禁忌症提醒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压力性尿失禁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NMES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35-50Hz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200-350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方波/双相平衡波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无/慎：起搏器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急迫性尿失禁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5-10Hz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200-500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三角波/双相平衡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无/慎：起搏器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器官脱垂(I-II)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NMES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20-30Hz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300-500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双相平衡波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III度以上慎用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慢性盆腔疼痛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80-150Hz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正弦波/三角波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起搏器禁用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便秘(出口梗阻)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NMES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20-30Hz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300-500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方波/间歇波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直肠术后慎用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大便失禁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30-50Hz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250-400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双相平衡波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产后康复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NMES+TENS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20-40Hz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200-400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三角波/双相波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恶露未净慎用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外阴白斑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&lt;1Hz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微电流+双相波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术后尿潴留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FES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20-30Hz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200-400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方波/间歇波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术后出血期禁用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盆底肌紧张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2-10Hz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200-400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三角波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微软雅黑"/>
              </a:defRPr>
            </a:pPr>
            <a:r>
              <a:t>⚠ 起搏器/内置电子设备患者：TENS/IFC禁用，其他类型需评估后使用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第八章  产品对比分析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圆小汫差异化优势：掌上便携·一次性探头·六师共管·居家延伸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南京伟思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广州杉山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圆爱康·圆小汫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设备形态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台式/工作站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台式/工作站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掌上便携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通道数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2-4通道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2通道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频率范围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0.5-1000Hz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1-1000Hz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1-1000Hz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生物反馈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sEMG+压力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sEMG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sEMG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Glazer评估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完整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完整（AI辅助）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远程指导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❌ 不支持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❌ 不支持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✅ 六师共管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探头类型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可重复使用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可重复使用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一次性（卫生安全）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NMPA认证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✅ II类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✅ II类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✅ II类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单次治疗成本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较高（院内）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较高（院内）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较低（居家）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目标场景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医院/康复中心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医院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社区/居家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微软雅黑"/>
              </a:defRPr>
            </a:pPr>
            <a:r>
              <a:t>📌 所有设备均已通过NMPA II类医疗器械认证 | 伟思/杉山为传统院内方案，圆小汫填补居家康复空白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第九章  扩展适应症——超越盆底功能障碍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电刺激在非PFD领域的精准应用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外阴白斑：MENS微电流促进局部血供和色素代谢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阴道萎缩：低频电刺激+局部雌激素联合，促进胶原重塑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会阴撕裂愈合：MENS促进ATP合成、减轻炎症因子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慢性盆腔炎：IFC干扰电深层消炎镇痛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术后尿潴留：FES辅助膀胱排空，减少导尿管留置时间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肛肠术后：促进括约肌功能恢复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4C80"/>
                </a:solidFill>
                <a:latin typeface="微软雅黑"/>
              </a:defRPr>
            </a:pPr>
            <a:r>
              <a:t>电刺激与组织修复机制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促进ATP合成 → 细胞能量供应增强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调节炎症因子 → 减轻局部炎性反应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促进胶原重塑 → 改善组织弹性和支撑力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学术引用：相关机制研究可参考Journal of Tissue Engineering文献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04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总结与核心要点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36576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PFD不只是女性问题——打破认知误区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电刺激分类体系：TENS/NMES/MENS/FES/IFC各有所长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波形选择决定治疗效果与患者体验——双相平衡波为盆底首选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Glazer评估五步法是精准治疗的基石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三阶段策略：引导期→强化期→自主期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产品选择：院内伟思/杉山 → 居家圆小汫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扩展适应症：外阴白斑、慢性盆腔炎、术后康复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微软雅黑"/>
              </a:defRPr>
            </a:pPr>
            <a:r>
              <a:t>广州圆爱康生物科技有限公司  |  www.yuanekang.com  |  版本V4.0 专业升级版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参考资料与学术引用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1. Glazer HI, et al. Pelvic floor muscle surface electromyography: reliability and clinical significance. J Urol. 1995.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2. ACOG Committee Opinion No. 687: Approaches to Prevention of Pelvic Floor Disorders. 2017.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3. 中华医学会妇产科学分会. 盆底功能障碍性疾病诊治指南(2022版).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4. Sheffler LR, Chae J. Neuromuscular electrical stimulation in neurorehabilitation. Muscle Nerve. 2007.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5. 国家药品监督管理局. 低频电刺激治疗设备注册技术审查指导原则.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6. ICS (International Continence Society). Standardization of Terminology of Pelvic Floor Muscle Function. 2021.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7. 中国医师协会. 产后盆底康复治疗专家共识(2020).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本培训材料仅用于专业知识教学，不构成具体临床处方建议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7E22"/>
                </a:solidFill>
                <a:latin typeface="微软雅黑"/>
              </a:defRPr>
            </a:pPr>
            <a:r>
              <a:t>📌 具体治疗参数需结合患者个体情况由执业医师制定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配套资源清单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📋 参数速查卡（单页PDF，含禁忌症提醒列）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📋 Glazer评估模板与正常值范围对照表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📋 患者教育话术模板（针对9大常见误区）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📋 案例库（含治疗前后Glazer数值对比）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📋 产品选型指南（院内/社区/居家三种场景）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📋 家庭训练依从性管理工具（APP打卡模板）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📋 参考文献全文索引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如需以上配套资源，请联系广州圆爱康生物科技有限公司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  <a:latin typeface="微软雅黑"/>
              </a:defRPr>
            </a:pPr>
            <a:r>
              <a:t>▸ www.yuanekang.com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