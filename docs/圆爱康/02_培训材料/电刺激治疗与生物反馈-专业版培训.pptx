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926080"/>
            <a:ext cx="54864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电刺激治疗与生物反馈</a:t>
            </a:r>
            <a:br/>
            <a:r>
              <a:t>盆底康复专业知识培训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D5E8"/>
                </a:solidFill>
                <a:latin typeface="Microsoft YaHei"/>
              </a:defRPr>
            </a:pPr>
            <a:r>
              <a:t>低频电刺激 · 中频电刺激 · NMES · TENS · 生物反馈 · 全病种覆盖 · 产品对比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AACC"/>
                </a:solidFill>
                <a:latin typeface="Microsoft YaHei"/>
              </a:defRPr>
            </a:pPr>
            <a:r>
              <a:t>广州圆爱康生物科技有限公司  |  v3.0 专业版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课程大纲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第一章  盆底功能障碍性疾病总览——不只是女性问题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第二章  电刺激治疗的完整分类体系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第三章  电刺激波形深度分类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第四章  生物反馈与Glazer评估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第五章  综合治疗路径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第六章  常见误区澄清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第七章  关键参数速查表</a:t>
            </a:r>
          </a:p>
          <a:p>
            <a:pPr>
              <a:spcAft>
                <a:spcPts val="300"/>
              </a:spcAft>
              <a:defRPr sz="1600">
                <a:solidFill>
                  <a:srgbClr val="1E293B"/>
                </a:solidFill>
                <a:latin typeface="Microsoft YaHei"/>
              </a:defRPr>
            </a:pPr>
            <a:r>
              <a:t>第八章  产品对比分析——南京伟思 · 广州杉山 · 圆爱康·圆小汫  ← 新增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第一章  盆底功能障碍性疾病总览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1.1  PFD不只发生在女性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● 盆底功能障碍（PFD）是盆底支持结构损伤或功能失调导致的临床综合征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● 男性和女性都会患病。男性常被低估（前列腺术后尿失禁率5%-40%）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三个功能区域：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前区（膀胱尿道）→ 排尿功能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中区（阴道/前列腺）→ 支撑功能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后区（肛门直肠）→ 排便功能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关键流行病学数据：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• 女性PFD患病率25%-50%    • 80%产后女性存在盆底损伤（不论顺产/剖宫产）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• 慢性便秘患者约50%存在PFD    • 50%初学Kegel发力错误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1.2  临床表现全面分类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排尿障碍（男女均可）──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压力性尿失禁 / 急迫性尿失禁 / 混合性尿失禁 / 尿潴留 / 膀胱过度活动症（OAB）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排便障碍（男女均可）──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慢性便秘（出口梗阻型）/ 大便失禁 / 排便不尽感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盆腔器官脱垂（女性为主）──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子宫脱垂 / 膀胱膨出 / 直肠膨出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慢性盆腔疼痛（男女均可）──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盆底肌紧张/痉挛 → 疼痛   间质性膀胱炎   慢性前列腺炎（男）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性功能障碍（男女均可）──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女性：性交痛、阴道松弛   男性：勃起功能障碍、前列腺术后尿失禁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第二章  电刺激治疗的完整分类体系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2.1  电刺激总分类框架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低频电刺激（0.5-1000Hz）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├─ TENS（经皮神经电刺激）—— 镇痛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├─ NMES（神经肌肉电刺激）—— 肌肉功能重建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├─ MENS（微电流刺激）—— 组织修复/镇痛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└─ FES（功能性电刺激）—— 替代/辅助功能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中频电刺激（1000-100000Hz）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├─ 干扰电（IFC）—— 深度镇痛/促循环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└─ 中频调制波—— 深度肌肉刺激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高频电刺激（&gt;100kHz）—— 热效应（非盆底领域）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2.2  TENS——经皮神经电刺激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核心用途：镇痛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作用机制（双重通路）：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高频TENS（50-100Hz,低强度）：激活Aβ纤维→闸门控制理论→阻断痛觉传入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低频TENS（2-10Hz,高强度）：激活Aδ纤维→内源性阿片肽释放→下行抑制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波形特征：方波或对称双相波，脉宽50-400μs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患者感受：高频→持续震动/麻刺感（无肌肉收缩）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        低频→节律性"突突"感，可能有轻微肌肉跳动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盆底应用：慢性盆腔疼痛、间质性膀胱炎、痛经、会阴痛、紧张型盆底肌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2.3  NMES——神经肌肉电刺激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核心用途：肌肉功能重建（增强肌力/耐力/神经再教育）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作用机制：电脉冲→激活运动神经动作电位→释放乙酰胆碱→肌肉收缩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✅ NMES可募集随意运动募及不到的深层运动单位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✅ 电刺激诱发的收缩中，所有运动单位同步激活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盆底应用：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Ⅰ类肌（慢肌，占70%）：20-30Hz → 基础张力 → 脱垂治疗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Ⅱ类肌（快肌，占30%）：35-50Hz → 爆发反射 → 压力性尿失禁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术后肌萎缩：50-80Hz高强度 → 肌力重建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神经再支配：30-50Hz窄脉宽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2.4  MENS 与 FES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MENS（微电流神经肌肉刺激）──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强度微安级别（&lt;1000μA），患者几乎无感觉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机制：模仿人体自身生物电流，促进ATP合成和细胞膜转运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应用：产后组织修复、慢性炎症、会阴侧切/撕裂后愈合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FES（功能性电刺激）──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本质与NMES相同，但强调在功能活动中使用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不是躺着做治疗，而是站着/走路时辅助功能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盆底应用：触发电刺激、排尿/排便反射刺激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2.5  中频电刺激（干扰电）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频率范围：1000-100000Hz（1-100kHz）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中频优势：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① 穿透深度大，可达深层肌肉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② 皮肤阻抗低，同样强度下患者更舒适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③ 可产生更强肌肉收缩同时更舒适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干扰电（IFC）：两路中频（2-5kHz）交叉，产生差频调制→深部靶向刺激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盆底选择原则：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表层肌肉/浅层 → 低频NMES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深层肌肉/大面积/高舒适度 → 中频干扰电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第三章  电刺激波形的深度分类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3.1  6种基本波形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① 方波（矩形波）—— 前沿极陡，触发效率最高、穿透力最强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  患者感受："啪"的突袭感，舒适度一般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② 三角波（斜坡波）—— 电流渐升渐降，最接近生理信号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  患者感受：温和渐进，最舒适（但触发效率最低）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③ 锯齿波—— 上升和下降速度不对称，可调节收缩/放松节奏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④ 正弦波—— 平滑连续，不易极化，主要用于中频载波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⑤ 双相波—— 对称（净电荷为零→最舒适→盆底首选）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            不对称（净电荷积累→刺激更强）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⑥ 指数波—— 上升呈指数曲线，最模拟神经动作电位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  去神经肌肉的首选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3.2  脉冲调制方式分类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临床上更常用按调制方式分类，因为调制方式直接影响治疗效果：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连续波：恒定频率和幅度，简单直接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调幅波：幅度周期性增减，减少神经适应性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调频波：频率变化，同时激活不同纤维类型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间歇波：通-断循环，管理肌肉疲劳（通断比1:1至1:5可调）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爆发波：高频脉冲组成短爆发，间歇重复，强直收缩效果好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调制波的核心价值：防止神经适应，保持治疗效果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3.3  频率分档与临床应用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┌──────────┬──────────────────┬────────────────────┐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频率      │ 生理效应          │ 典型应用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├──────────┼──────────────────┼────────────────────┤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0.5-2Hz  │ 直接刺激肌膜      │ MENS修复、去神经肌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2-10Hz   │ 激活Aδ+阿片系统   │ 镇痛（TENS低频模式）│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10-20Hz  │ 不完全性强直      │ 慢肌耐力、促循环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20-35Hz  │ Ⅰ类+Ⅱa类肌      │ 盆底Ⅰ类肌→脱垂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35-50Hz  │ Ⅱ类肌最佳频率    │ 压力性尿失禁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50-80Hz  │ 最大强直收缩      │ 严重肌无力重建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80+Hz    │ 快速疲劳/疼痛     │ 极少用  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└──────────┴──────────────────┴────────────────────┘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临床口诀：漏尿→35-50Hz（快肌）    脱垂/松弛→20-30Hz（慢肌）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        疼痛/紧张→2-10Hz        肌力重建→50-80Hz（短期高强度）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第四章  生物反馈与Glazer评估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4.1  生物反馈——让患者"看见"自己的盆底肌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定义：用仪器将不可感知的生理活动（肌电/压力）转化为视觉/听觉信号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为何不可或缺？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• 50%初学Kegel发力错误（腹肌/臀肌代偿）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• 25%做Valsalva动作（向下用力，反而加重脱垂）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• 生物反馈使训练准确率从50%提升至90%以上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三种类型：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├─ sEMG肌电生物反馈 → 最常用，区分正确发力与代偿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├─ 压力生物反馈 → 感受实际收缩力度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└─ 视觉生物反馈 → 动画/游戏化，适合儿童/初学者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4.2  Glazer评估——国际金标准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创立者：美国康奈尔大学 Howard Glazer 教授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五步标准化评估：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① 静息前基线（60s）：正常2-4μV；过高→高张力/痉挛；过低→松弛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② 快速收缩（5次快收快放）：峰值低→Ⅱ类肌无力→压力性尿失禁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③ 持续收缩（5次×10s）：下降快→耐力差；不稳定→协调性差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④ 耐久收缩（60s）：末值/初值&lt;0.6→Ⅰ类肌耐力差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⑤ 后静息（60s）：不能回到基线→肌肉不能放松→需放松训练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临床价值：量化诊断 → 精准方案 → 疗效对比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第五章  综合治疗路径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5.1  完整治疗路径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患者就诊 → 病史+问卷（ICI-Q-SF/PFDI-20/PFIQ-7）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→ 临床检查（POP-Q分度/改良牛津肌力分级）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→ Glazer评估 → 诊断分型 → 制定个体化方案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→ 疗程治疗（每周2-3次，10-15次/疗程，20-30分钟/次）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→ 复查评估 → 达标→过渡至家庭训练；不达标→继续疗程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分型治疗：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松弛型 → NMES（20-50Hz）+ 生物反馈为主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紧张型 → TENS放松 + 肌筋膜手法为主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混合型 → 综合方案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疼痛型 → 低频TENS + MENS + 生物反馈放松训练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5.2  三阶段治疗策略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┌────────┬────────────┬──────────┬──────────┐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阶段   │ 患者状态    │ 电刺激%  │ 生物反馈%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├────────┼────────────┼──────────┼──────────┤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Ⅰ引导  │ 不会发力    │ 70%      │ 30%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Ⅱ强化  │ 能收缩      │ 40%      │ 60%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Ⅲ自主  │ 正确收缩    │ 10%      │ 90%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└────────┴────────────┴──────────┴──────────┘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Ⅰ期（引导期）：强制激活神经肌肉，让患者体验"正确收缩"的感觉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Ⅱ期（强化期）：电刺激辅助收缩 + 生物反馈精细发力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Ⅲ期（自主期）：减少电刺激，建立主动控制，过渡到家庭训练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5.3  特殊人群治疗要点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男性患者 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前列腺术后尿失禁：NMES 35-50Hz + 主动收缩训练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慢性盆腔疼痛综合征：先评估肌张力，紧张型以放松为主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肛肠术后：NMES 20-30Hz，改善括约肌功能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老年患者 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需更长疗程（20次以上），皮肤敏感度降低需控制电流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── 产后患者（含剖宫产） ──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产后42天即可开始干预  妊娠期已造成损伤，剖宫产不能避免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  关注腹直肌分离合并问题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第六章  常见误区澄清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6.1  必须纠正的9大误区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误区1：盆底康复是女性专利    → 纠正：男性也会患病，前列腺术后尤其高发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误区2：电刺激=疼痛             → 纠正：运动水平是跳动感，疼痛说明强度太大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误区3：剖宫产不用做盆底康复   → 纠正：整个孕期已损伤，剖宫产保护有限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误区4：自己练Kegel就够了       → 纠正：50%发力错误，生物反馈指导才高效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误区5：Ⅰ类肌比Ⅱ类肌重要     → 纠正：两者互补，分别负责支撑和反射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误区6：频率越高效果越好       → 纠正：选对频率比选高频率重要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误区7：症状消失就停练         → 纠正：盆底肌停练回退，需维持训练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误区8：电刺激只练肌肉不治痛   → 纠正：TENS本身就是镇痛技术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误区9：只有女性才需要评估     → 纠正：男性和儿童同样需要评估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第七章  关键参数速查表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7.1  10种治疗场景参数推荐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┌──────────────┬──────────┬──────────┬──────┬────────┐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治疗目的      │ 刺激类型  │ 波形      │ 频率  │ 通断比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├──────────────┼──────────┼──────────┼──────┼────────┤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压力性尿失禁  │ NMES     │ 对称双相  │35-50Hz│ 5:10s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急迫性尿失禁  │TENS/NMES │ 对称双相  │10-15Hz│连续/5:5│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盆腔器官脱垂  │ NMES     │ 对称双相  │20-30Hz│ 5:5s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慢性盆腔疼痛  │ TENS     │ 方波/双相 │2-10Hz │ 连续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术后肌萎缩    │ NMES     │不对称双相 │50-80Hz│ 5:15s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产后组织修复  │ MENS     │ 极低双相  │0.5-5Hz│ 连续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便秘/排空障碍 │ NMES     │ 对称双相  │10-30Hz│ 5:5s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男性前列腺后  │ NMES     │ 对称双相  │35-50Hz│ 5:10s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放松降张力    │ TENS     │ 三角波    │ 2-8Hz │ 连续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神经再支配    │ NMES     │ 指数波    │30-50Hz│ 5:10s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└──────────────┴──────────┴──────────┴──────┴────────┘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注：以上为参考参数，需结合患者耐受度、评估结果、临床经验调整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第八章  产品对比分析——广州杉山 · 南京伟思 · 圆爱康·圆小汫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5A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54864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Microsoft YaHei"/>
              </a:defRPr>
            </a:pPr>
            <a:r>
              <a:t>第八章  产品对比分析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8.1  三家公司概览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┌──────────┬──────────────────┬──────────────────┬──────────────────────┐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         │ 南京伟思          │ 广州杉山          │ 广州圆爱康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├──────────┼──────────────────┼──────────────────┼──────────────────────┤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成立时间  │ 2000年           │ 2003年           │ 2020年代  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总部      │ 南京             │ 广州             │ 广州      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定位      │ 盆底康复全方案    │ 盆底设备+耗材    │ 互联网+居家康复平台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代表产品  │ MyoTrac系列       │ 杉山盆底系列      │ 圆小汫（物联网设备）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核心优势  │ 临床最早、品牌最强│ 设备+耗材打包    │ 居家闭环、六师共管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市场侧重  │ 院内高端          │ 院内+院线        │ 居家+医院合作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└──────────┴──────────────────┴──────────────────┴──────────────────────┘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8.2  核心产品参数对比——生物反馈电刺激治疗仪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2926080"/>
                <a:gridCol w="3383280"/>
              </a:tblGrid>
              <a:tr h="35356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南京伟思 MyoTrac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广州杉山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圆爱康·圆小汫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设备形态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台式/推车（大型）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台式/柜式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掌上便携（~90g）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通道数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2-8通道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2-4通道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1-2通道（可双机）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频率范围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1-250Hz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1-200Hz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1-250Hz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脉宽范围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50-1000μs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40-800μs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40-1000μs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电流范围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0-100mA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0-80mA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0-100mA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肌电测量范围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2-500μV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2-500μV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2-1000μV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可调步长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1-2mA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1-2mA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1mA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通断比可调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10-20s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10-20s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≥30s可调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Glazer评估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内置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内置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内置+正常人对照值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无线/蓝牙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部分有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部分有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标准配备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远程治疗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❌ 限院内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❌ 限院内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APP+远程管理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居家使用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❌ 限院内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❌ 限院内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居家+院内两用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探头方式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可重复使用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可重复使用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一次性+可重复双选择</a:t>
                      </a:r>
                    </a:p>
                  </a:txBody>
                  <a:tcPr/>
                </a:tc>
              </a:tr>
              <a:tr h="3535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智能推荐方案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部分支持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部分支持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评估后自动推荐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8.3  治疗覆盖范围对比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  <a:gridCol w="2743200"/>
                <a:gridCol w="3474720"/>
              </a:tblGrid>
              <a:tr h="4191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治疗项目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南京伟思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广州杉山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圆爱康·圆小汫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压力性尿失禁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+ 居家方案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急迫性尿失禁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盆腔器官脱垂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+ 远程管理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慢性便秘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直肠版探头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大便失禁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直肠版探头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产后康复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产康版专用方案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男性康复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限院内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限院内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居家可做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儿童康复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快速康复器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慢性盆腔疼痛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TENS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放松+TENS</a:t>
                      </a:r>
                    </a:p>
                  </a:txBody>
                  <a:tcPr/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术后康复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术后理疗全方案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居家延续治疗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❌ 需回院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❌ 需回院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APP+蓝牙+远程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8.4  圆小汫的6大差异化优势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① 设备形态差异化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 掌上便携（90g），不同于伟思/杉山的台式机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→ 打破"盆底康复只能在医院做"的传统认知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② Glazer评估+智能推荐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 唯一具备正常人盆底肌电对照值的便携设备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→ 评估后自动推荐治疗方案，降低医生使用门槛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③ 一次性探头设计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 即用即弃，防交叉感染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→ 伟思/杉山多用可重复使用探头，需消毒存在风险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④ 蓝牙+APP远程管理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 医生可通过APP远程查看数据、调整方案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→ 伟思/杉山主要为院内单机操作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⑤ 六师共管服务体系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 不止卖设备，而是卖完整的康复服务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→ 六类专业人员N对一服务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⑥ 三版本覆盖全面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 产康版+盆底版+直肠版</a:t>
            </a:r>
          </a:p>
          <a:p>
            <a:pPr>
              <a:spcAft>
                <a:spcPts val="300"/>
              </a:spcAft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    → 伟思侧重盆底+产后，圆小汫覆盖更广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8.5  圆小汫参数竞争力——vs 行业平均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46888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参数维度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圆小汫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行业平均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竞争力判断</a:t>
                      </a:r>
                    </a:p>
                  </a:txBody>
                  <a:tcPr>
                    <a:solidFill>
                      <a:srgbClr val="2E86A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频率范围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1-250Hz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1-200Hz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更宽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脉宽范围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40-1000μs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50-800μs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调参空间更大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电流范围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0-100mA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0-80mA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强度够用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肌电测量范围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2-1000μV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2-500μV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精度更高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可调步长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1mA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1-2mA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更精细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通断比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≥30s可调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10-20s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适应性更好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双通道独立调节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支持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⚠️ 部分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优势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无线/远程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标准配备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❌ 少数有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明显优势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Glazer评估+对照值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 内置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⚠️ 部分有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优势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智能推荐方案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⚠️ 部分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Microsoft YaHei"/>
                        </a:defRPr>
                      </a:pPr>
                      <a:r>
                        <a:t>✅ 优势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8.6  三家公司优劣势总结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┌──────────┬──────────────────────────┬────────────────────────────┐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品牌      │ 优势                      │ 劣势            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├──────────┼──────────────────────────┼────────────────────────────┤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南京伟思  │ 品牌知名度最高，最早入临床  │ 设备大型、价格高、居家不便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          │ 多通道可同时多人治疗        │ 无远程管理、需回院治疗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          │ 学术支持强（伟思盆底平台）  │ 更新换代慢、居家市场薄弱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├──────────┼──────────────────────────┼────────────────────────────┤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广州杉山  │ 设备+耗材打包，客户黏性高    │ 品牌力弱于伟思  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          │ 华南地区渠道较深            │ 技术迭代慢、缺少远程能力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          │ 盆底探头品种齐全            │ 居家方案不成熟  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├──────────┼──────────────────────────┼────────────────────────────┤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圆爱康    │ 唯一居家+远程闭环方案        │ 品牌知名度尚在建立中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 ·圆小汫  │ 掌上便携+一次性探头+APP     │ 院内多通道场景需完善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          │ 六师共管（卖服务非卖设备）   │ 渠道布局需要时间 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│           │ 覆盖面广（盆底/产康/直肠）   │                             │</a:t>
            </a:r>
          </a:p>
          <a:p>
            <a:pPr>
              <a:spcAft>
                <a:spcPts val="300"/>
              </a:spcAft>
              <a:defRPr sz="1400">
                <a:solidFill>
                  <a:srgbClr val="1E293B"/>
                </a:solidFill>
                <a:latin typeface="Microsoft YaHei"/>
              </a:defRPr>
            </a:pPr>
            <a:r>
              <a:t>└──────────┴──────────────────────────┴────────────────────────────┘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54864" cy="54864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BD5E8"/>
                </a:solidFill>
                <a:latin typeface="Microsoft YaHei"/>
              </a:defRPr>
            </a:pPr>
            <a:r>
              <a:t>用专业赢得信任 · 用效果证明价值</a:t>
            </a:r>
            <a:br/>
            <a:r>
              <a:t>本版v3.0含真实表格+产品对比</a:t>
            </a:r>
            <a:br/>
            <a:r>
              <a:t>后续将制作销售培训精简版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AACC"/>
                </a:solidFill>
                <a:latin typeface="Microsoft YaHei"/>
              </a:defRPr>
            </a:pPr>
            <a:r>
              <a:t>广州圆爱康生物科技有限公司  |  v3.0 专业版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